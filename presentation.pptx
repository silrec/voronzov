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" y="2743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2743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22576" y="2743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44368" y="2743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2743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87952" y="2743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9744" y="2743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2743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53328" y="2743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2743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96912" y="2743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18704" y="2743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0496" y="27432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89611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8992" y="89611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00784" y="89611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22576" y="89611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44368" y="89611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89611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87952" y="89611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9744" y="89611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31536" y="89611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53328" y="89611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89611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96912" y="89611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18704" y="89611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40496" y="89611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151790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78992" y="151790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00784" y="151790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22576" y="151790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44368" y="151790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66160" y="151790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87952" y="151790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9744" y="151790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31536" y="151790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53328" y="151790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75120" y="151790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96912" y="151790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18704" y="151790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40496" y="151790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2139696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78992" y="2139696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00784" y="2139696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22576" y="2139696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44368" y="2139696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66160" y="2139696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87952" y="2139696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9744" y="2139696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31536" y="2139696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53328" y="2139696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75120" y="2139696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96912" y="2139696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918704" y="2139696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40496" y="2139696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" y="2761488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78992" y="2761488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00784" y="2761488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22576" y="2761488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944368" y="2761488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566160" y="2761488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187952" y="2761488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809744" y="2761488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31536" y="2761488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053328" y="2761488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675120" y="2761488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96912" y="2761488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918704" y="2761488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540496" y="2761488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7200" y="33832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78992" y="33832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00784" y="33832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322576" y="33832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944368" y="33832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66160" y="33832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187952" y="33832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09744" y="33832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31536" y="33832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53328" y="33832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675120" y="33832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296912" y="33832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918704" y="33832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540496" y="3383280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57200" y="400507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78992" y="400507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700784" y="400507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322576" y="400507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944368" y="400507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566160" y="400507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187952" y="400507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809744" y="400507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431536" y="400507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053328" y="400507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75120" y="400507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296912" y="400507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918704" y="400507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540496" y="4005072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57200" y="462686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78992" y="462686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700784" y="462686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322576" y="462686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944368" y="462686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66160" y="462686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187952" y="462686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809744" y="462686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431536" y="462686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053328" y="462686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675120" y="462686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296912" y="462686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918704" y="462686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540496" y="4626864"/>
            <a:ext cx="45720" cy="4572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Графовые нейронные сети</a:t>
            </a:r>
            <a:endParaRPr lang="en-US" sz="4400" dirty="0"/>
          </a:p>
        </p:txBody>
      </p:sp>
      <p:sp>
        <p:nvSpPr>
          <p:cNvPr id="116" name="Text 114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6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задачи размещения объектов на плоскости</a:t>
            </a:r>
            <a:endParaRPr lang="en-US" sz="2100" dirty="0"/>
          </a:p>
        </p:txBody>
      </p:sp>
      <p:sp>
        <p:nvSpPr>
          <p:cNvPr id="117" name="Shape 115"/>
          <p:cNvSpPr/>
          <p:nvPr/>
        </p:nvSpPr>
        <p:spPr>
          <a:xfrm>
            <a:off x="2926080" y="2432304"/>
            <a:ext cx="32918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57200" y="25786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Layout Planner  ·  Лабораторная работа</a:t>
            </a:r>
            <a:endParaRPr lang="en-US" sz="1300" dirty="0"/>
          </a:p>
        </p:txBody>
      </p:sp>
      <p:sp>
        <p:nvSpPr>
          <p:cNvPr id="119" name="Text 117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Морозов  ·  Бачонаев  ·  Деменков  ·  Геворгян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457200" y="4160520"/>
            <a:ext cx="1508760" cy="310896"/>
          </a:xfrm>
          <a:prstGeom prst="rect">
            <a:avLst/>
          </a:prstGeom>
          <a:solidFill>
            <a:srgbClr val="0D1E30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57200" y="416052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2130552" y="4160520"/>
            <a:ext cx="1508760" cy="310896"/>
          </a:xfrm>
          <a:prstGeom prst="rect">
            <a:avLst/>
          </a:prstGeom>
          <a:solidFill>
            <a:srgbClr val="0D1E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130552" y="416052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>
            <a:off x="3803904" y="4160520"/>
            <a:ext cx="1508760" cy="310896"/>
          </a:xfrm>
          <a:prstGeom prst="rect">
            <a:avLst/>
          </a:prstGeom>
          <a:solidFill>
            <a:srgbClr val="0D1E3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803904" y="416052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L-BFGS-B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5477256" y="4160520"/>
            <a:ext cx="1508760" cy="310896"/>
          </a:xfrm>
          <a:prstGeom prst="rect">
            <a:avLst/>
          </a:prstGeom>
          <a:solidFill>
            <a:srgbClr val="0D1E3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477256" y="416052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7150608" y="4160520"/>
            <a:ext cx="1508760" cy="310896"/>
          </a:xfrm>
          <a:prstGeom prst="rect">
            <a:avLst/>
          </a:prstGeom>
          <a:solidFill>
            <a:srgbClr val="0D1E3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150608" y="416052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Passing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GNN  ①  —  Граф как структура данных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ГРАФ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 flipH="1">
            <a:off x="914400" y="1280160"/>
            <a:ext cx="1645920" cy="457200"/>
          </a:xfrm>
          <a:prstGeom prst="line">
            <a:avLst/>
          </a:prstGeom>
          <a:noFill/>
          <a:ln w="25400">
            <a:solidFill>
              <a:srgbClr val="AABB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1280160"/>
            <a:ext cx="1280160" cy="457200"/>
          </a:xfrm>
          <a:prstGeom prst="line">
            <a:avLst/>
          </a:prstGeom>
          <a:noFill/>
          <a:ln w="25400">
            <a:solidFill>
              <a:srgbClr val="AABB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737360"/>
            <a:ext cx="1645920" cy="731520"/>
          </a:xfrm>
          <a:prstGeom prst="line">
            <a:avLst/>
          </a:prstGeom>
          <a:noFill/>
          <a:ln w="25400">
            <a:solidFill>
              <a:srgbClr val="AABB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280160"/>
            <a:ext cx="9144" cy="1188720"/>
          </a:xfrm>
          <a:prstGeom prst="line">
            <a:avLst/>
          </a:prstGeom>
          <a:noFill/>
          <a:ln w="25400">
            <a:solidFill>
              <a:srgbClr val="AABB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645920" y="2468880"/>
            <a:ext cx="914400" cy="548640"/>
          </a:xfrm>
          <a:prstGeom prst="line">
            <a:avLst/>
          </a:prstGeom>
          <a:noFill/>
          <a:ln w="25400">
            <a:solidFill>
              <a:srgbClr val="AABB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444752"/>
            <a:ext cx="585216" cy="585216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4447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Цех А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67712" y="987552"/>
            <a:ext cx="585216" cy="585216"/>
          </a:xfrm>
          <a:prstGeom prst="ellipse">
            <a:avLst/>
          </a:prstGeom>
          <a:solidFill>
            <a:srgbClr val="4E79A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987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Цех Б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47872" y="1444752"/>
            <a:ext cx="585216" cy="585216"/>
          </a:xfrm>
          <a:prstGeom prst="ellipse">
            <a:avLst/>
          </a:prstGeom>
          <a:solidFill>
            <a:srgbClr val="F28E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14447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67712" y="2176272"/>
            <a:ext cx="585216" cy="585216"/>
          </a:xfrm>
          <a:prstGeom prst="ellipse">
            <a:avLst/>
          </a:prstGeom>
          <a:solidFill>
            <a:srgbClr val="E1575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67712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Офис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89888" y="2761488"/>
            <a:ext cx="512064" cy="512064"/>
          </a:xfrm>
          <a:prstGeom prst="ellipse">
            <a:avLst/>
          </a:prstGeom>
          <a:solidFill>
            <a:srgbClr val="59A1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89888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КПП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0" y="987552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Узел = объект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(признаки: размер, тип…)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7160" y="33101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Ребро = технологическая связь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(«должны быть рядом»)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7498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GNN, А НЕ ОБЫЧНАЯ НЕЙРОСЕТЬ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92040" y="1005840"/>
            <a:ext cx="3977640" cy="841248"/>
          </a:xfrm>
          <a:prstGeom prst="rect">
            <a:avLst/>
          </a:prstGeom>
          <a:solidFill>
            <a:srgbClr val="0F2035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100584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1069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Входные данные — граф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1325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объектов и связей не фиксировано. Обычная сеть не принимает граф напрямую.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92040" y="1965960"/>
            <a:ext cx="3977640" cy="841248"/>
          </a:xfrm>
          <a:prstGeom prst="rect">
            <a:avLst/>
          </a:prstGeom>
          <a:solidFill>
            <a:srgbClr val="0F2035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1965960"/>
            <a:ext cx="64008" cy="8412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029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Учитывает соседей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7492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узел получает информацию от своих соседей — связанных объектов.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92040" y="2926080"/>
            <a:ext cx="3977640" cy="841248"/>
          </a:xfrm>
          <a:prstGeom prst="rect">
            <a:avLst/>
          </a:prstGeom>
          <a:solidFill>
            <a:srgbClr val="0F2035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2926080"/>
            <a:ext cx="64008" cy="8412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990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Инвариантность к порядку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Перестановка объектов не меняет результат (граф не упорядочен).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92040" y="3886200"/>
            <a:ext cx="3977640" cy="841248"/>
          </a:xfrm>
          <a:prstGeom prst="rect">
            <a:avLst/>
          </a:prstGeom>
          <a:solidFill>
            <a:srgbClr val="0F2035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3886200"/>
            <a:ext cx="64008" cy="8412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3950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Обобщение на новые графы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7492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работает с любым числом объектов без переобучения.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GNN  ②  —  Механизм передачи сообщений (Message Passing)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2743200" cy="2084832"/>
          </a:xfrm>
          <a:prstGeom prst="rect">
            <a:avLst/>
          </a:prstGeom>
          <a:solidFill>
            <a:srgbClr val="0A1E32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13232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7132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ФОРМИРОВАНИЕ СООБЩЕНИЙ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93192" y="1170432"/>
            <a:ext cx="246888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7043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m(u→v) = f( hᵤ, hᵥ 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737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ребра (u→v) вычисляется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сообщение на основе признаков узлов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99232" y="1755648"/>
            <a:ext cx="219456" cy="0"/>
          </a:xfrm>
          <a:prstGeom prst="line">
            <a:avLst/>
          </a:prstGeom>
          <a:noFill/>
          <a:ln w="25400">
            <a:solidFill>
              <a:srgbClr val="3A50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713232"/>
            <a:ext cx="2743200" cy="2084832"/>
          </a:xfrm>
          <a:prstGeom prst="rect">
            <a:avLst/>
          </a:prstGeom>
          <a:solidFill>
            <a:srgbClr val="0A1E32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713232"/>
            <a:ext cx="2743200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7132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АГРЕГАЦИЯ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55848" y="1170432"/>
            <a:ext cx="246888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17043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agg(v) = Σ  m(u→v)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1737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входящие сообщения суммируются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(или берётся max / среднее)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61888" y="1755648"/>
            <a:ext cx="219456" cy="0"/>
          </a:xfrm>
          <a:prstGeom prst="line">
            <a:avLst/>
          </a:prstGeom>
          <a:noFill/>
          <a:ln w="25400">
            <a:solidFill>
              <a:srgbClr val="3A50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713232"/>
            <a:ext cx="2743200" cy="2084832"/>
          </a:xfrm>
          <a:prstGeom prst="rect">
            <a:avLst/>
          </a:prstGeom>
          <a:solidFill>
            <a:srgbClr val="0A1E32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713232"/>
            <a:ext cx="2743200" cy="34747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1344" y="7132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ОБНОВЛЕНИЕ УЗЛА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18504" y="1170432"/>
            <a:ext cx="246888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8504" y="117043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h'(v) = MLP( hᵥ ‖ agg(v) 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18504" y="1737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эмбеддинг — конкатенация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старого признака с агрегатом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2944368"/>
            <a:ext cx="8641080" cy="365760"/>
          </a:xfrm>
          <a:prstGeom prst="rect">
            <a:avLst/>
          </a:prstGeom>
          <a:solidFill>
            <a:srgbClr val="0A1E32"/>
          </a:solidFill>
          <a:ln w="12700">
            <a:solidFill>
              <a:srgbClr val="1A3E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9443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слой GNN = одна итерация message passing  →  3 слоя = каждый узел «видит» 3-hop окрестность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" y="3456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ОДИН ШАГ ДЛЯ УЗЛА «ЦЕХ А»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6032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(h₀):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4005072"/>
            <a:ext cx="114300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00507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ширина: 30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490472" y="4005072"/>
            <a:ext cx="114300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90472" y="400507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высота: 20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24912" y="4005072"/>
            <a:ext cx="114300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24912" y="400507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тип: произв.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959352" y="4005072"/>
            <a:ext cx="114300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59352" y="400507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пожар: 15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193792" y="4169664"/>
            <a:ext cx="3657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395020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agg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соседей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69280" y="37490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(h'₀):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69280" y="4005072"/>
            <a:ext cx="1572768" cy="347472"/>
          </a:xfrm>
          <a:prstGeom prst="rect">
            <a:avLst/>
          </a:prstGeom>
          <a:solidFill>
            <a:srgbClr val="0A1E3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0" y="400507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связей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33488" y="4005072"/>
            <a:ext cx="1572768" cy="347472"/>
          </a:xfrm>
          <a:prstGeom prst="rect">
            <a:avLst/>
          </a:prstGeom>
          <a:solidFill>
            <a:srgbClr val="0A1E3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33488" y="400507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 склада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669280" y="4389120"/>
            <a:ext cx="1572768" cy="347472"/>
          </a:xfrm>
          <a:prstGeom prst="rect">
            <a:avLst/>
          </a:prstGeom>
          <a:solidFill>
            <a:srgbClr val="0A1E3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43891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 цеха Б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33488" y="4389120"/>
            <a:ext cx="1572768" cy="347472"/>
          </a:xfrm>
          <a:prstGeom prst="rect">
            <a:avLst/>
          </a:prstGeom>
          <a:solidFill>
            <a:srgbClr val="0A1E3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33488" y="43891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скрытое: 64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GNN  ③  —  Архитектура LayoutGNN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9728" y="658368"/>
            <a:ext cx="1554480" cy="2103120"/>
          </a:xfrm>
          <a:prstGeom prst="rect">
            <a:avLst/>
          </a:prstGeom>
          <a:solidFill>
            <a:srgbClr val="0F2035"/>
          </a:solidFill>
          <a:ln w="15240">
            <a:solidFill>
              <a:srgbClr val="1D6F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658368"/>
            <a:ext cx="1554480" cy="38404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" y="6583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Входной вектор узла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2880" y="1133856"/>
            <a:ext cx="14081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признаков: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ширина, высота,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форма, тип, зазор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64208" y="1709928"/>
            <a:ext cx="109728" cy="0"/>
          </a:xfrm>
          <a:prstGeom prst="line">
            <a:avLst/>
          </a:prstGeom>
          <a:noFill/>
          <a:ln w="25400">
            <a:solidFill>
              <a:srgbClr val="3A50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73936" y="658368"/>
            <a:ext cx="1508760" cy="2103120"/>
          </a:xfrm>
          <a:prstGeom prst="rect">
            <a:avLst/>
          </a:prstGeom>
          <a:solidFill>
            <a:srgbClr val="0F2035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73936" y="658368"/>
            <a:ext cx="15087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73936" y="6583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Projection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47088" y="1133856"/>
            <a:ext cx="13624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Linear(5 → 64)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ReLU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82696" y="1709928"/>
            <a:ext cx="109728" cy="0"/>
          </a:xfrm>
          <a:prstGeom prst="line">
            <a:avLst/>
          </a:prstGeom>
          <a:noFill/>
          <a:ln w="25400">
            <a:solidFill>
              <a:srgbClr val="3A50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2424" y="658368"/>
            <a:ext cx="1508760" cy="2103120"/>
          </a:xfrm>
          <a:prstGeom prst="rect">
            <a:avLst/>
          </a:prstGeom>
          <a:solidFill>
            <a:srgbClr val="0F2035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2424" y="658368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92424" y="6583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Layer × 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65576" y="1133856"/>
            <a:ext cx="13624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MessagePassing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 → 64)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01184" y="1709928"/>
            <a:ext cx="109728" cy="0"/>
          </a:xfrm>
          <a:prstGeom prst="line">
            <a:avLst/>
          </a:prstGeom>
          <a:noFill/>
          <a:ln w="25400">
            <a:solidFill>
              <a:srgbClr val="3A50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10912" y="658368"/>
            <a:ext cx="1508760" cy="2103120"/>
          </a:xfrm>
          <a:prstGeom prst="rect">
            <a:avLst/>
          </a:prstGeom>
          <a:solidFill>
            <a:srgbClr val="0F2035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10912" y="658368"/>
            <a:ext cx="1508760" cy="3840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6583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Head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84064" y="1133856"/>
            <a:ext cx="13624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Linear(64→32)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Linear(32→3)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19672" y="1709928"/>
            <a:ext cx="109728" cy="0"/>
          </a:xfrm>
          <a:prstGeom prst="line">
            <a:avLst/>
          </a:prstGeom>
          <a:noFill/>
          <a:ln w="25400">
            <a:solidFill>
              <a:srgbClr val="3A50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658368"/>
            <a:ext cx="1508760" cy="2103120"/>
          </a:xfrm>
          <a:prstGeom prst="rect">
            <a:avLst/>
          </a:prstGeom>
          <a:solidFill>
            <a:srgbClr val="0F2035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658368"/>
            <a:ext cx="1508760" cy="3840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6583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на узел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702552" y="1133856"/>
            <a:ext cx="136245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(Δx, Δy, Δθ)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смещение позиции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угол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2852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— ПОЛНАЯ МОДЕЛЬ LAYOUTGNN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072384"/>
            <a:ext cx="5120640" cy="1956816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3191256"/>
            <a:ext cx="488289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8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LayoutGNN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(nn.Module):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pPr indent="0" marL="0">
              <a:buNone/>
            </a:pPr>
            <a:r>
              <a:rPr lang="en-US" sz="8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hidden_dim=</a:t>
            </a:r>
            <a:pPr indent="0" marL="0">
              <a:buNone/>
            </a:pPr>
            <a:r>
              <a:rPr lang="en-US" sz="88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n_layers=</a:t>
            </a:r>
            <a:pPr indent="0" marL="0">
              <a:buNone/>
            </a:pPr>
            <a:r>
              <a:rPr lang="en-US" sz="88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self.input_proj = nn.Linear(</a:t>
            </a:r>
            <a:pPr indent="0" marL="0">
              <a:buNone/>
            </a:pPr>
            <a:r>
              <a:rPr lang="en-US" sz="88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hidden_dim)  </a:t>
            </a:r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 признаков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self.layers = nn.ModuleList([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8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MessagePassingLayer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(hidden_dim, hidden_dim) </a:t>
            </a:r>
            <a:pPr indent="0" marL="0">
              <a:buNone/>
            </a:pPr>
            <a:r>
              <a:rPr lang="en-US" sz="8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 </a:t>
            </a:r>
            <a:pPr indent="0" marL="0">
              <a:buNone/>
            </a:pPr>
            <a:r>
              <a:rPr lang="en-US" sz="8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range(n_layers)])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self.output_head = nn.Sequential(nn.Linear(hidden_dim,</a:t>
            </a:r>
            <a:pPr indent="0" marL="0">
              <a:buNone/>
            </a:pPr>
            <a:r>
              <a:rPr lang="en-US" sz="88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nn.ReLU(), nn.Linear(</a:t>
            </a:r>
            <a:pPr indent="0" marL="0">
              <a:buNone/>
            </a:pPr>
            <a:r>
              <a:rPr lang="en-US" sz="88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8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 </a:t>
            </a:r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(dx,dy,drot)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pPr indent="0" marL="0">
              <a:buNone/>
            </a:pPr>
            <a:r>
              <a:rPr lang="en-US" sz="8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x, edge_index):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 = relu(self.input_proj(x))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</a:t>
            </a:r>
            <a:pPr indent="0" marL="0">
              <a:buNone/>
            </a:pPr>
            <a:r>
              <a:rPr lang="en-US" sz="8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self.layers: h = relu(layer(h, edge_index))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self.output_head(h)  </a:t>
            </a:r>
            <a:pPr indent="0" marL="0">
              <a:buNone/>
            </a:pPr>
            <a:r>
              <a:rPr lang="en-US" sz="8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[N, 3]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577840" y="3072384"/>
            <a:ext cx="3291840" cy="1956816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24144" y="3191256"/>
            <a:ext cx="305409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Параметры модели: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proj:  </a:t>
            </a:r>
            <a:pPr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5×64 + 64 = 384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MP Layer ×3: </a:t>
            </a:r>
            <a:pPr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128×64+64 = 8 256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head: </a:t>
            </a:r>
            <a:pPr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64×32+32×3 = 2 144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Итого:       </a:t>
            </a:r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10 800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параметров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GNN  ④  —  Применение к задаче размещения объектов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СТРОИТСЯ ГРАФ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4114800" cy="841248"/>
          </a:xfrm>
          <a:prstGeom prst="rect">
            <a:avLst/>
          </a:prstGeom>
          <a:solidFill>
            <a:srgbClr val="0A1E32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87552"/>
            <a:ext cx="7315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07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Узлы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размещаемый объект — один узел.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Признаки: ширина, высота, форма, тип, противопожарный зазор.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" y="1947672"/>
            <a:ext cx="4114800" cy="841248"/>
          </a:xfrm>
          <a:prstGeom prst="rect">
            <a:avLst/>
          </a:prstGeom>
          <a:solidFill>
            <a:srgbClr val="0A1E32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947672"/>
            <a:ext cx="73152" cy="8412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208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Рёбра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258568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Технологические связи, заданные пользователем.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ненаправленный, каждое ребро добавляется в обоих направлениях.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" y="2907792"/>
            <a:ext cx="4114800" cy="841248"/>
          </a:xfrm>
          <a:prstGeom prst="rect">
            <a:avLst/>
          </a:prstGeom>
          <a:solidFill>
            <a:srgbClr val="0A1E32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907792"/>
            <a:ext cx="73152" cy="8412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809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218688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узла GNN предсказывает (Δx, Δy) — смещение от базовой позиции на регулярной сетке.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6032" y="38953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— ПОСТРОЕНИЕ ГРАФА СВЯЗЕЙ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4114800"/>
            <a:ext cx="4114800" cy="96926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4233672"/>
            <a:ext cx="3877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build_edge_index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(objects):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id_to_idx = {obj.id: i </a:t>
            </a:r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i, obj </a:t>
            </a:r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(objects)}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edges = []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 </a:t>
            </a:r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cid </a:t>
            </a:r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obj.connections: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edges += [[i, id_to_idx[cid]], [id_to_idx[cid], i]]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torch.tensor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(edges).t().contiguous()  </a:t>
            </a:r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двунаправл.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0" y="7132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ДАЁТ GNN БЕЗ ОБУЧЕНИЯ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0" y="98755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используется с незадействованными весами.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ограничение — это учебная демонстрация: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901952"/>
            <a:ext cx="4297680" cy="777240"/>
          </a:xfrm>
          <a:prstGeom prst="rect">
            <a:avLst/>
          </a:prstGeom>
          <a:solidFill>
            <a:srgbClr val="0A1E32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14884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47488" y="1965960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влияет сразу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47488" y="2221992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Связанные узлы получают похожие смещения через агрегацию — ещё до любого обучения.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2798064"/>
            <a:ext cx="4297680" cy="777240"/>
          </a:xfrm>
          <a:prstGeom prst="rect">
            <a:avLst/>
          </a:prstGeom>
          <a:solidFill>
            <a:srgbClr val="0A1E32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044952"/>
            <a:ext cx="274320" cy="2743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044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47488" y="2862072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Разнообразие начальных позиций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47488" y="3118104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нарушает симметрию равномерной сетки, давая оптимизатору лучшую стартовую точку.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0" y="3694176"/>
            <a:ext cx="4297680" cy="777240"/>
          </a:xfrm>
          <a:prstGeom prst="rect">
            <a:avLst/>
          </a:prstGeom>
          <a:solidFill>
            <a:srgbClr val="0A1E32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3941064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941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47488" y="3758184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Масштабируемость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47488" y="4014216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Обученная GNN могла бы за O(N) шагов давать хорошее решение для любого нового набора объектов.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 — 5 модулей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1627632" cy="3291840"/>
          </a:xfrm>
          <a:prstGeom prst="rect">
            <a:avLst/>
          </a:prstGeom>
          <a:solidFill>
            <a:srgbClr val="0F2035"/>
          </a:solidFill>
          <a:ln w="15240">
            <a:solidFill>
              <a:srgbClr val="1D6F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49808"/>
            <a:ext cx="1627632" cy="36576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4980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" y="115214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objects.py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1444752" cy="3657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72768"/>
            <a:ext cx="14447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PlacementObject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Road, Block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задачи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10512" y="2395728"/>
            <a:ext cx="137160" cy="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47672" y="749808"/>
            <a:ext cx="1627632" cy="3291840"/>
          </a:xfrm>
          <a:prstGeom prst="rect">
            <a:avLst/>
          </a:prstGeom>
          <a:solidFill>
            <a:srgbClr val="0F2035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47672" y="749808"/>
            <a:ext cx="1627632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47672" y="74980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47672" y="115214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gnn_model.py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39112" y="1463040"/>
            <a:ext cx="144475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39112" y="1572768"/>
            <a:ext cx="14447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LayoutGNN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MessagePassingLayer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build_edge_index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75304" y="2395728"/>
            <a:ext cx="137160" cy="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749808"/>
            <a:ext cx="1627632" cy="3291840"/>
          </a:xfrm>
          <a:prstGeom prst="rect">
            <a:avLst/>
          </a:prstGeom>
          <a:solidFill>
            <a:srgbClr val="0F2035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12464" y="749808"/>
            <a:ext cx="1627632" cy="3657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74980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12464" y="115214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metrics.py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03904" y="1463040"/>
            <a:ext cx="1444752" cy="3657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03904" y="1572768"/>
            <a:ext cx="14447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compute_layout_loss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/ tech / road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 orientation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40096" y="2395728"/>
            <a:ext cx="137160" cy="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77256" y="749808"/>
            <a:ext cx="1627632" cy="3291840"/>
          </a:xfrm>
          <a:prstGeom prst="rect">
            <a:avLst/>
          </a:prstGeom>
          <a:solidFill>
            <a:srgbClr val="0F2035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77256" y="749808"/>
            <a:ext cx="1627632" cy="3657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77256" y="74980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Оптимизатор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77256" y="115214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optimizer.py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68696" y="1463040"/>
            <a:ext cx="1444752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68696" y="1572768"/>
            <a:ext cx="14447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init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L-BFGS-B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+ blocks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04888" y="2395728"/>
            <a:ext cx="137160" cy="0"/>
          </a:xfrm>
          <a:prstGeom prst="line">
            <a:avLst/>
          </a:prstGeom>
          <a:noFill/>
          <a:ln w="19050">
            <a:solidFill>
              <a:srgbClr val="3A50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42048" y="749808"/>
            <a:ext cx="1627632" cy="3291840"/>
          </a:xfrm>
          <a:prstGeom prst="rect">
            <a:avLst/>
          </a:prstGeom>
          <a:solidFill>
            <a:srgbClr val="0F2035"/>
          </a:solidFill>
          <a:ln w="15240">
            <a:solidFill>
              <a:srgbClr val="EC48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42048" y="749808"/>
            <a:ext cx="1627632" cy="365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42048" y="74980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42048" y="1152144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33488" y="1463040"/>
            <a:ext cx="1444752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33488" y="1572768"/>
            <a:ext cx="144475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+ matplotlib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объектов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Визуализация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82880" y="4187952"/>
            <a:ext cx="8778240" cy="749808"/>
          </a:xfrm>
          <a:prstGeom prst="rect">
            <a:avLst/>
          </a:prstGeom>
          <a:solidFill>
            <a:srgbClr val="0A1E32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4251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данных: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47472" y="45079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вводит объекты + связи → objects.py → GNN генерирует начало → metrics.py считает loss → optimizer.py запускает L-BFGS-B → app.py рисует результат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потерь — ограничения задачи на языке градиентов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8686800" cy="713232"/>
          </a:xfrm>
          <a:prstGeom prst="rect">
            <a:avLst/>
          </a:prstGeom>
          <a:solidFill>
            <a:srgbClr val="0A1E32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066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10·L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0" y="886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651760" y="740664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+ 5·L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886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22192" y="740664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+ 1·L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53712" y="886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83480" y="740664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+ 6·L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5000" y="886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26480" y="740664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+ 8·L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8869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1572768"/>
            <a:ext cx="1618488" cy="3310128"/>
          </a:xfrm>
          <a:prstGeom prst="rect">
            <a:avLst/>
          </a:prstGeom>
          <a:solidFill>
            <a:srgbClr val="0A1E32"/>
          </a:solidFill>
          <a:ln w="15240">
            <a:solidFill>
              <a:srgbClr val="F871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1572768"/>
            <a:ext cx="1618488" cy="32918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572768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L_overlap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1752" y="1975104"/>
            <a:ext cx="1472184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975104"/>
            <a:ext cx="1472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min(gap, 0)²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1752" y="2532888"/>
            <a:ext cx="14721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 не должны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пересекаться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84248" y="1572768"/>
            <a:ext cx="1618488" cy="3310128"/>
          </a:xfrm>
          <a:prstGeom prst="rect">
            <a:avLst/>
          </a:prstGeom>
          <a:solidFill>
            <a:srgbClr val="0A1E32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84248" y="1572768"/>
            <a:ext cx="1618488" cy="32918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84248" y="1572768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L_fire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057400" y="1975104"/>
            <a:ext cx="1472184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1975104"/>
            <a:ext cx="1472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max(0, req − gap)²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57400" y="2532888"/>
            <a:ext cx="14721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Нарушение минимального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зазора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39896" y="1572768"/>
            <a:ext cx="1618488" cy="3310128"/>
          </a:xfrm>
          <a:prstGeom prst="rect">
            <a:avLst/>
          </a:prstGeom>
          <a:solidFill>
            <a:srgbClr val="0A1E32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39896" y="1572768"/>
            <a:ext cx="1618488" cy="3291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9896" y="1572768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L_tech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813048" y="1975104"/>
            <a:ext cx="1472184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13048" y="1975104"/>
            <a:ext cx="1472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max(gap, 0)²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13048" y="2532888"/>
            <a:ext cx="14721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Связанные объекты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должны быть рядом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95544" y="1572768"/>
            <a:ext cx="1618488" cy="3310128"/>
          </a:xfrm>
          <a:prstGeom prst="rect">
            <a:avLst/>
          </a:prstGeom>
          <a:solidFill>
            <a:srgbClr val="0A1E32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95544" y="1572768"/>
            <a:ext cx="1618488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95544" y="1572768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L_road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68696" y="1975104"/>
            <a:ext cx="1472184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68696" y="1975104"/>
            <a:ext cx="1472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max(0, d − 5)²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68696" y="2532888"/>
            <a:ext cx="14721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должен быть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 м от дороги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251192" y="1572768"/>
            <a:ext cx="1618488" cy="3310128"/>
          </a:xfrm>
          <a:prstGeom prst="rect">
            <a:avLst/>
          </a:prstGeom>
          <a:solidFill>
            <a:srgbClr val="0A1E32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51192" y="1572768"/>
            <a:ext cx="1618488" cy="32918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51192" y="1572768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L_bounds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324344" y="1975104"/>
            <a:ext cx="1472184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24344" y="1975104"/>
            <a:ext cx="1472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(margin_x² + margin_y²)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24344" y="2532888"/>
            <a:ext cx="14721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внутри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 поля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оптимизации — от графа к финальному размещению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" y="731520"/>
            <a:ext cx="1627632" cy="1298448"/>
          </a:xfrm>
          <a:prstGeom prst="rect">
            <a:avLst/>
          </a:prstGeom>
          <a:solidFill>
            <a:srgbClr val="0F2035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731520"/>
            <a:ext cx="162763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73152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GNN Init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" y="1143000"/>
            <a:ext cx="14447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→ начальные (x,y)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380744"/>
            <a:ext cx="137160" cy="0"/>
          </a:xfrm>
          <a:prstGeom prst="line">
            <a:avLst/>
          </a:prstGeom>
          <a:noFill/>
          <a:ln w="25400">
            <a:solidFill>
              <a:srgbClr val="3A50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5960" y="731520"/>
            <a:ext cx="1627632" cy="1298448"/>
          </a:xfrm>
          <a:prstGeom prst="rect">
            <a:avLst/>
          </a:prstGeom>
          <a:solidFill>
            <a:srgbClr val="0F2035"/>
          </a:solidFill>
          <a:ln w="15240">
            <a:solidFill>
              <a:srgbClr val="1D6F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731520"/>
            <a:ext cx="1627632" cy="34747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73152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L-BFGS-B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1143000"/>
            <a:ext cx="14447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Минимизация loss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93592" y="1380744"/>
            <a:ext cx="137160" cy="0"/>
          </a:xfrm>
          <a:prstGeom prst="line">
            <a:avLst/>
          </a:prstGeom>
          <a:noFill/>
          <a:ln w="25400">
            <a:solidFill>
              <a:srgbClr val="3A50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0752" y="731520"/>
            <a:ext cx="1627632" cy="1298448"/>
          </a:xfrm>
          <a:prstGeom prst="rect">
            <a:avLst/>
          </a:prstGeom>
          <a:solidFill>
            <a:srgbClr val="0F2035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30752" y="731520"/>
            <a:ext cx="1627632" cy="34747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0752" y="73152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Ориентация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22192" y="1143000"/>
            <a:ext cx="14447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Фасад к дороге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58384" y="1380744"/>
            <a:ext cx="137160" cy="0"/>
          </a:xfrm>
          <a:prstGeom prst="line">
            <a:avLst/>
          </a:prstGeom>
          <a:noFill/>
          <a:ln w="25400">
            <a:solidFill>
              <a:srgbClr val="3A50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95544" y="731520"/>
            <a:ext cx="1627632" cy="1298448"/>
          </a:xfrm>
          <a:prstGeom prst="rect">
            <a:avLst/>
          </a:prstGeom>
          <a:solidFill>
            <a:srgbClr val="0F2035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95544" y="731520"/>
            <a:ext cx="1627632" cy="3474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95544" y="73152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Grid Snap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86984" y="1143000"/>
            <a:ext cx="14447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Привязка к сетке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23176" y="1380744"/>
            <a:ext cx="137160" cy="0"/>
          </a:xfrm>
          <a:prstGeom prst="line">
            <a:avLst/>
          </a:prstGeom>
          <a:noFill/>
          <a:ln w="25400">
            <a:solidFill>
              <a:srgbClr val="3A50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0336" y="731520"/>
            <a:ext cx="1627632" cy="1298448"/>
          </a:xfrm>
          <a:prstGeom prst="rect">
            <a:avLst/>
          </a:prstGeom>
          <a:solidFill>
            <a:srgbClr val="0F2035"/>
          </a:solidFill>
          <a:ln w="15240">
            <a:solidFill>
              <a:srgbClr val="EC48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60336" y="731520"/>
            <a:ext cx="1627632" cy="3474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0336" y="73152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Кварталы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51776" y="1143000"/>
            <a:ext cx="14447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объектов/квартал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1168" y="21488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КОД — run_optimization()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1168" y="2395728"/>
            <a:ext cx="5029200" cy="2578608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514600"/>
            <a:ext cx="479145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run_optimization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(objects, roads, bounds, model, ...):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1. GNN формирует начальные позиции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gnn_initial_placement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(objects, bounds, model)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2. Градиентная оптимизация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</a:t>
            </a:r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minimize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(_loss_and_grad, x0,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method=</a:t>
            </a:r>
            <a:pPr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"L-BFGS-B"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jac=</a:t>
            </a:r>
            <a:pPr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options={</a:t>
            </a:r>
            <a:pPr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"maxiter"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max_iter})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3–5. Постобработка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orient_to_road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(objects, roads)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фасад к дороге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snap_to_grid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(objects, bounds)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привязка к сетке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build_blocks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(objects, bounds)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40680" y="2148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ГРАФА И ФУНКЦИИ ПОТЕРЬ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40680" y="2395728"/>
            <a:ext cx="3493008" cy="2578608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86984" y="2514600"/>
            <a:ext cx="325526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 loss: рёбра графа = tech-штраф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b.id </a:t>
            </a:r>
            <a:pPr indent="0" marL="0"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a.connections: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loss += W_TECH * max(gap, </a:t>
            </a:r>
            <a:pPr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)²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Объекты без связей — только fire+overlap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 = max(a.fire_d, b.fire_d)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&lt; required: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loss += W_FIRE * (required-gap)²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работы программы  —  demo.py</a:t>
            </a:r>
            <a:endParaRPr lang="en-US" sz="2000" dirty="0"/>
          </a:p>
        </p:txBody>
      </p:sp>
      <p:pic>
        <p:nvPicPr>
          <p:cNvPr id="4" name="Image 0" descr="C:\Users\user\claude_domain\voronzov\demo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13232"/>
            <a:ext cx="6035040" cy="393928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46520" y="713232"/>
            <a:ext cx="2487168" cy="4251960"/>
          </a:xfrm>
          <a:prstGeom prst="rect">
            <a:avLst/>
          </a:prstGeom>
          <a:solidFill>
            <a:srgbClr val="0F2035"/>
          </a:solidFill>
          <a:ln w="15240">
            <a:solidFill>
              <a:srgbClr val="1D6FA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46520" y="80467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556248" y="1170432"/>
            <a:ext cx="2267712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29400" y="121615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балл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019288" y="1216152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/ 100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56248" y="1792224"/>
            <a:ext cx="2267712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183794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Пожарная безоп.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019288" y="1837944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/ 100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56248" y="2414016"/>
            <a:ext cx="2267712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245973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Техн. связи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019288" y="2459736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/ 100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556248" y="3035808"/>
            <a:ext cx="2267712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29400" y="30815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дорогам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019288" y="3081528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/ 100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556248" y="3657600"/>
            <a:ext cx="2267712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29400" y="37033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Кварталы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019288" y="3703320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100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556248" y="4279392"/>
            <a:ext cx="2267712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29400" y="432511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Ориентация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019288" y="4325112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/ 100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82880" y="4725669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объектов  ·  1 дорога  ·  300×300 м  ·  300 итераций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3657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61872"/>
            <a:ext cx="8412480" cy="768096"/>
          </a:xfrm>
          <a:prstGeom prst="rect">
            <a:avLst/>
          </a:prstGeom>
          <a:solidFill>
            <a:srgbClr val="0A1E32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73152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350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Изучена архитектура GNN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6093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Реализованы MessagePassingLayer и LayoutGNN на PyTorch. Прослежена роль агрегации соседних узлов в формировании эмбеддингов.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8412480" cy="768096"/>
          </a:xfrm>
          <a:prstGeom prst="rect">
            <a:avLst/>
          </a:prstGeom>
          <a:solidFill>
            <a:srgbClr val="0A1E32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48840"/>
            <a:ext cx="73152" cy="7680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21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связей влияет на результат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4963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 с технологическими связями получают скоррелированные начальные позиции благодаря механизму передачи сообщений.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035808"/>
            <a:ext cx="8412480" cy="768096"/>
          </a:xfrm>
          <a:prstGeom prst="rect">
            <a:avLst/>
          </a:prstGeom>
          <a:solidFill>
            <a:srgbClr val="0A1E32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035808"/>
            <a:ext cx="73152" cy="76809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+ оптимизатор = эффективный pipeline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3832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даёт хорошую стартовую точку для L-BFGS-B, что ускоряет сходимость по сравнению с равномерной инициализацией.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922776"/>
            <a:ext cx="8412480" cy="768096"/>
          </a:xfrm>
          <a:prstGeom prst="rect">
            <a:avLst/>
          </a:prstGeom>
          <a:solidFill>
            <a:srgbClr val="0A1E32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922776"/>
            <a:ext cx="73152" cy="76809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995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Достигнутые метрики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42702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балл 81/100. Доступ к дорогам 100%. Технологические связи соблюдены (91%).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Layout Planner  ·  Морозов · Бачонаев · Деменков · Геворгян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2026-05-29T21:14:42Z</dcterms:created>
  <dcterms:modified xsi:type="dcterms:W3CDTF">2026-05-29T21:14:42Z</dcterms:modified>
</cp:coreProperties>
</file>